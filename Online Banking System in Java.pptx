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34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8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8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2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6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2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8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2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38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86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9005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87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9477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30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48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55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4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2000" y="2310854"/>
            <a:ext cx="4572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653754"/>
            <a:ext cx="5600700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0" i="0" u="none">
                <a:solidFill>
                  <a:srgbClr val="FFFFFF"/>
                </a:solidFill>
                <a:latin typeface="Inter ExtraBold"/>
              </a:rPr>
              <a:t>Automated Banking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223295"/>
            <a:ext cx="5334000" cy="22621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94A3B8"/>
                </a:solidFill>
                <a:latin typeface="Inter"/>
              </a:rPr>
              <a:t>A Java Implementation</a:t>
            </a:r>
            <a:endParaRPr lang="en-US" sz="2100" b="0" i="0" u="none" dirty="0">
              <a:solidFill>
                <a:srgbClr val="94A3B8"/>
              </a:solidFill>
              <a:latin typeface="Inter"/>
            </a:endParaRPr>
          </a:p>
          <a:p>
            <a:pPr algn="l"/>
            <a:endParaRPr lang="en-IN" sz="2100" dirty="0">
              <a:solidFill>
                <a:srgbClr val="94A3B8"/>
              </a:solidFill>
              <a:latin typeface="Inter"/>
            </a:endParaRPr>
          </a:p>
          <a:p>
            <a:pPr algn="l"/>
            <a:r>
              <a:rPr lang="en-IN" sz="2100" dirty="0">
                <a:solidFill>
                  <a:srgbClr val="94A3B8"/>
                </a:solidFill>
                <a:latin typeface="Inter"/>
              </a:rPr>
              <a:t>Group Name:</a:t>
            </a:r>
          </a:p>
          <a:p>
            <a:pPr algn="l"/>
            <a:r>
              <a:rPr lang="en-IN" sz="2100" b="0" i="0" u="none" dirty="0" err="1">
                <a:solidFill>
                  <a:srgbClr val="94A3B8"/>
                </a:solidFill>
                <a:latin typeface="Inter"/>
              </a:rPr>
              <a:t>Aashutosh</a:t>
            </a:r>
            <a:r>
              <a:rPr lang="en-IN" sz="21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lang="en-IN" sz="2100" b="0" i="0" u="none" dirty="0" err="1">
                <a:solidFill>
                  <a:srgbClr val="94A3B8"/>
                </a:solidFill>
                <a:latin typeface="Inter"/>
              </a:rPr>
              <a:t>Subedi</a:t>
            </a:r>
            <a:endParaRPr lang="en-IN" sz="2100" b="0" i="0" u="none" dirty="0">
              <a:solidFill>
                <a:srgbClr val="94A3B8"/>
              </a:solidFill>
              <a:latin typeface="Inter"/>
            </a:endParaRPr>
          </a:p>
          <a:p>
            <a:pPr algn="l"/>
            <a:r>
              <a:rPr lang="en-IN" sz="2100" dirty="0">
                <a:solidFill>
                  <a:srgbClr val="94A3B8"/>
                </a:solidFill>
                <a:latin typeface="Inter"/>
              </a:rPr>
              <a:t>Bishal Shah</a:t>
            </a:r>
          </a:p>
          <a:p>
            <a:pPr algn="l"/>
            <a:r>
              <a:rPr lang="en-IN" sz="2100" dirty="0">
                <a:solidFill>
                  <a:srgbClr val="94A3B8"/>
                </a:solidFill>
                <a:latin typeface="Inter"/>
              </a:rPr>
              <a:t>Subash Kunwar</a:t>
            </a:r>
          </a:p>
          <a:p>
            <a:pPr algn="l"/>
            <a:r>
              <a:rPr lang="en-IN" sz="2100" b="0" i="0" u="none" dirty="0" err="1">
                <a:solidFill>
                  <a:srgbClr val="94A3B8"/>
                </a:solidFill>
                <a:latin typeface="Inter"/>
              </a:rPr>
              <a:t>Aasish</a:t>
            </a:r>
            <a:r>
              <a:rPr lang="en-IN" sz="2100" b="0" i="0" u="none" dirty="0">
                <a:solidFill>
                  <a:srgbClr val="94A3B8"/>
                </a:solidFill>
                <a:latin typeface="Inter"/>
              </a:rPr>
              <a:t> Rawal</a:t>
            </a:r>
            <a:endParaRPr sz="21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25916" y="2034778"/>
            <a:ext cx="1340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B82F6"/>
                </a:solidFill>
                <a:latin typeface="Inter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5437" y="2491978"/>
            <a:ext cx="9001125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0" i="0" u="none" dirty="0">
                <a:solidFill>
                  <a:srgbClr val="0F172A"/>
                </a:solidFill>
                <a:latin typeface="Inter ExtraBold"/>
              </a:rPr>
              <a:t>What is an Online Banking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076700"/>
            <a:ext cx="762000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475569"/>
                </a:solidFill>
                <a:latin typeface="Inter"/>
              </a:rPr>
              <a:t>A centralized digital platform replacing physical branches with 24/7 self-service transaction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8FAFC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image.png"/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85925"/>
            <a:ext cx="5105400" cy="4410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842" y="1671636"/>
            <a:ext cx="5105400" cy="4410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762000"/>
            <a:ext cx="112014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The Paradigm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200275"/>
            <a:ext cx="4400550" cy="323850"/>
          </a:xfrm>
          <a:prstGeom prst="rect">
            <a:avLst/>
          </a:prstGeom>
          <a:noFill/>
        </p:spPr>
        <p:txBody>
          <a:bodyPr wrap="square" lIns="41910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334155"/>
                </a:solidFill>
                <a:latin typeface="Inter"/>
              </a:rPr>
              <a:t>Traditional 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1800" y="2200275"/>
            <a:ext cx="4400550" cy="323850"/>
          </a:xfrm>
          <a:prstGeom prst="rect">
            <a:avLst/>
          </a:prstGeom>
          <a:noFill/>
        </p:spPr>
        <p:txBody>
          <a:bodyPr wrap="square" lIns="35242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Digital Banking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257075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9200" y="2828925"/>
            <a:ext cx="4191000" cy="4191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1650" b="0" i="0" u="none" dirty="0">
                <a:solidFill>
                  <a:srgbClr val="64748B"/>
                </a:solidFill>
                <a:latin typeface="Inter"/>
              </a:rPr>
              <a:t>Physical branches</a:t>
            </a:r>
          </a:p>
        </p:txBody>
      </p:sp>
      <p:sp>
        <p:nvSpPr>
          <p:cNvPr id="9" name="TextBox 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9200" y="3248025"/>
            <a:ext cx="4191000" cy="4191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1650" b="0" i="0" u="none" dirty="0">
                <a:solidFill>
                  <a:srgbClr val="64748B"/>
                </a:solidFill>
                <a:latin typeface="Inter"/>
              </a:rPr>
              <a:t>Paper ledgers</a:t>
            </a:r>
          </a:p>
        </p:txBody>
      </p:sp>
      <p:sp>
        <p:nvSpPr>
          <p:cNvPr id="10" name="TextBox 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9200" y="3605212"/>
            <a:ext cx="4191000" cy="4191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1650" b="0" i="0" u="none" dirty="0">
                <a:solidFill>
                  <a:srgbClr val="64748B"/>
                </a:solidFill>
                <a:latin typeface="Inter"/>
              </a:rPr>
              <a:t>Manual processing</a:t>
            </a:r>
          </a:p>
        </p:txBody>
      </p:sp>
      <p:sp>
        <p:nvSpPr>
          <p:cNvPr id="11" name="TextBox 1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9200" y="4086225"/>
            <a:ext cx="4191000" cy="41910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1650" b="0" i="0" u="none" dirty="0">
                <a:solidFill>
                  <a:srgbClr val="64748B"/>
                </a:solidFill>
                <a:latin typeface="Inter"/>
              </a:rPr>
              <a:t>Restricted hours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00" y="2228850"/>
            <a:ext cx="20002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81800" y="2828925"/>
            <a:ext cx="4191000" cy="419100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1650" b="0" i="0" u="none">
                <a:solidFill>
                  <a:srgbClr val="0F172A"/>
                </a:solidFill>
                <a:latin typeface="Inter"/>
              </a:rPr>
              <a:t>Remote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3248025"/>
            <a:ext cx="4191000" cy="419100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1650" b="0" i="0" u="none">
                <a:solidFill>
                  <a:srgbClr val="0F172A"/>
                </a:solidFill>
                <a:latin typeface="Inter"/>
              </a:rPr>
              <a:t>Memory arrays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3667125"/>
            <a:ext cx="4191000" cy="419100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1650" b="0" i="0" u="none">
                <a:solidFill>
                  <a:srgbClr val="0F172A"/>
                </a:solidFill>
                <a:latin typeface="Inter"/>
              </a:rPr>
              <a:t>Instant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4086225"/>
            <a:ext cx="4191000" cy="419100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1650" b="0" i="0" u="none">
                <a:solidFill>
                  <a:srgbClr val="0F172A"/>
                </a:solidFill>
                <a:latin typeface="Inter"/>
              </a:rPr>
              <a:t>24/7 availability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2928937"/>
            <a:ext cx="15240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3348037"/>
            <a:ext cx="15240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3767137"/>
            <a:ext cx="15240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4186237"/>
            <a:ext cx="152400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800" y="2928937"/>
            <a:ext cx="180975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800" y="3348037"/>
            <a:ext cx="180975" cy="2190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800" y="3767137"/>
            <a:ext cx="180975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800" y="4186237"/>
            <a:ext cx="180975" cy="219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14962" y="2000250"/>
            <a:ext cx="13620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F4444"/>
                </a:solidFill>
                <a:latin typeface="Inter"/>
              </a:rPr>
              <a:t>PROBLEM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33925" y="4095750"/>
            <a:ext cx="2724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34155"/>
                </a:solidFill>
                <a:latin typeface="Inter"/>
              </a:rPr>
              <a:t>Restricted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6487" y="4581525"/>
            <a:ext cx="74390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64748B"/>
                </a:solidFill>
                <a:latin typeface="Inter"/>
              </a:rPr>
              <a:t>Customers bound to physical locations during limited working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1962" y="2457450"/>
            <a:ext cx="3830478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sz="10500" b="0" i="0" u="none">
                <a:solidFill>
                  <a:srgbClr val="0F172A"/>
                </a:solidFill>
                <a:latin typeface="Inter ExtraBold"/>
              </a:rPr>
              <a:t>9 to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3128962"/>
            <a:ext cx="5181600" cy="2228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119" y="3128962"/>
            <a:ext cx="5181600" cy="2228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762000"/>
            <a:ext cx="1066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F4444"/>
                </a:solidFill>
                <a:latin typeface="Inter"/>
              </a:rPr>
              <a:t>PROBLEM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219200"/>
            <a:ext cx="1120140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0F172A"/>
                </a:solidFill>
                <a:latin typeface="Inter ExtraBold"/>
              </a:rPr>
              <a:t>Manual Record-Keeping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586162"/>
            <a:ext cx="428625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4195762"/>
            <a:ext cx="448056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0F172A"/>
                </a:solidFill>
                <a:latin typeface="Inter"/>
              </a:rPr>
              <a:t>Slow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4685992"/>
            <a:ext cx="426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Physical ledgers delay basic account inquiries.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3471862"/>
            <a:ext cx="28575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05600" y="4081462"/>
            <a:ext cx="448056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Human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4557712"/>
            <a:ext cx="426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Calculation mistakes during deposits or withdrawals.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945034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F4444"/>
                </a:solidFill>
                <a:latin typeface="Inter"/>
              </a:rPr>
              <a:t>PROBLEM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402234"/>
            <a:ext cx="80010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0" i="0" u="none">
                <a:solidFill>
                  <a:srgbClr val="0F172A"/>
                </a:solidFill>
                <a:latin typeface="Inter ExtraBold"/>
              </a:rPr>
              <a:t>Inefficient Queues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446115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4593413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62" y="3579465"/>
            <a:ext cx="14287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7800" y="3446115"/>
            <a:ext cx="44005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Wasted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3778293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4748B"/>
                </a:solidFill>
                <a:latin typeface="Inter"/>
              </a:rPr>
              <a:t>Waiting in long physical lines for simple tasks.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70" y="4726763"/>
            <a:ext cx="23812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43025" y="4455300"/>
            <a:ext cx="44005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Inter"/>
              </a:rPr>
              <a:t>Resource Drain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3025" y="484005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4748B"/>
                </a:solidFill>
                <a:latin typeface="Inter"/>
              </a:rPr>
              <a:t>Teller time consumed by routine transactions.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0" y="2354609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F4444"/>
                </a:solidFill>
                <a:latin typeface="Inter"/>
              </a:rPr>
              <a:t>PROBLEM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2811809"/>
            <a:ext cx="560070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FFFFFF"/>
                </a:solidFill>
                <a:latin typeface="Inter ExtraBold"/>
              </a:rPr>
              <a:t>Overdraft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3543300"/>
            <a:ext cx="5334000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Manual teller processes risk approving withdrawals that exceed actual balances if ledgers lag.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305050"/>
            <a:ext cx="533400" cy="6096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EFBB9E0-1258-A015-3526-5C1611504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893569"/>
            <a:ext cx="7766936" cy="1096899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Digital Solution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12B9A19-B619-73A8-C6E8-F18C18D29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29299" y="4524881"/>
            <a:ext cx="3444703" cy="622851"/>
          </a:xfrm>
        </p:spPr>
        <p:txBody>
          <a:bodyPr/>
          <a:lstStyle/>
          <a:p>
            <a:r>
              <a:rPr lang="en-IN" sz="1800" b="0" i="0" u="none" dirty="0">
                <a:solidFill>
                  <a:srgbClr val="FF0000"/>
                </a:solidFill>
                <a:latin typeface="Inter"/>
              </a:rPr>
              <a:t>Automated. Instant. Secure</a:t>
            </a:r>
            <a:endParaRPr lang="en-I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23752"/>
            <a:ext cx="106680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 dirty="0">
                <a:solidFill>
                  <a:srgbClr val="3B82F6"/>
                </a:solidFill>
                <a:latin typeface="Inter"/>
              </a:rPr>
              <a:t>SOLUTION 01: </a:t>
            </a:r>
            <a:endParaRPr lang="en-US" sz="2400" b="1" dirty="0">
              <a:solidFill>
                <a:srgbClr val="3B82F6"/>
              </a:solidFill>
              <a:latin typeface="Inter"/>
            </a:endParaRPr>
          </a:p>
          <a:p>
            <a:pPr algn="ctr"/>
            <a:r>
              <a:rPr sz="1500" b="1" i="0" u="none" dirty="0">
                <a:solidFill>
                  <a:srgbClr val="3B82F6"/>
                </a:solidFill>
                <a:latin typeface="Inter"/>
              </a:rPr>
              <a:t>24/7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84600" y="2900362"/>
            <a:ext cx="9525" cy="18954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97725" y="2900362"/>
            <a:ext cx="9525" cy="18954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025" y="3052762"/>
            <a:ext cx="533400" cy="53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5989" y="3814762"/>
            <a:ext cx="271362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Always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243387"/>
            <a:ext cx="2584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Independent financial management at any hour.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151" y="3052762"/>
            <a:ext cx="533400" cy="53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39115" y="3814762"/>
            <a:ext cx="271362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Anywhere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3725" y="4243387"/>
            <a:ext cx="2584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Accessible from any location with internet.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5601" y="3052762"/>
            <a:ext cx="666750" cy="53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52240" y="3814762"/>
            <a:ext cx="271362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Self-Serve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6850" y="4243387"/>
            <a:ext cx="2584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No reliance on branch staff or physical tellers.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/>
      <p:bldP spid="7" grpId="0"/>
      <p:bldP spid="9" grpId="0"/>
      <p:bldP spid="10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242345"/>
            <a:ext cx="2409825" cy="419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38325"/>
            <a:ext cx="5105400" cy="3181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196405"/>
            <a:ext cx="5105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3B82F6"/>
                </a:solidFill>
                <a:latin typeface="Inter"/>
              </a:rPr>
              <a:t>SOLUTION 02</a:t>
            </a:r>
            <a:r>
              <a:rPr lang="en-US" sz="2400" b="1" i="0" u="none" dirty="0">
                <a:solidFill>
                  <a:srgbClr val="3B82F6"/>
                </a:solidFill>
                <a:latin typeface="Inter"/>
              </a:rPr>
              <a:t>:</a:t>
            </a:r>
            <a:endParaRPr sz="2400" b="1" i="0" u="none" dirty="0">
              <a:solidFill>
                <a:srgbClr val="3B82F6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653605"/>
            <a:ext cx="536067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Centralized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85095"/>
            <a:ext cx="51054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748B"/>
                </a:solidFill>
                <a:latin typeface="Inter"/>
              </a:rPr>
              <a:t>Replaces physical paper ledgers with instant, memory-based Java Collections.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101826" y="3438525"/>
            <a:ext cx="8763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2" y="3076575"/>
            <a:ext cx="762000" cy="762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0" y="3076575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237" y="3076575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4450" y="4061030"/>
            <a:ext cx="2562225" cy="1543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3900" y="3938111"/>
            <a:ext cx="2628900" cy="1543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0575" y="3880962"/>
            <a:ext cx="2295525" cy="1543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2238375"/>
            <a:ext cx="106680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 dirty="0">
                <a:solidFill>
                  <a:srgbClr val="3B82F6"/>
                </a:solidFill>
                <a:latin typeface="Inter"/>
              </a:rPr>
              <a:t>SOLUTION 03:</a:t>
            </a:r>
            <a:endParaRPr lang="en-US" sz="2400" b="1" i="0" u="none" dirty="0">
              <a:solidFill>
                <a:srgbClr val="3B82F6"/>
              </a:solidFill>
              <a:latin typeface="Inter"/>
            </a:endParaRPr>
          </a:p>
          <a:p>
            <a:pPr algn="ctr"/>
            <a:r>
              <a:rPr lang="en-IN" sz="2400" b="1" dirty="0">
                <a:solidFill>
                  <a:srgbClr val="3B82F6"/>
                </a:solidFill>
                <a:latin typeface="Inter"/>
              </a:rPr>
              <a:t>              </a:t>
            </a:r>
            <a:r>
              <a:rPr sz="2400" b="1" i="0" u="none" dirty="0">
                <a:solidFill>
                  <a:srgbClr val="3B82F6"/>
                </a:solidFill>
                <a:latin typeface="Inter"/>
              </a:rPr>
              <a:t> INSTANT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3600" y="4067175"/>
            <a:ext cx="610076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4419600"/>
            <a:ext cx="21812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User requests transaction.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1675" y="4067175"/>
            <a:ext cx="94011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Inter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5400" y="4419600"/>
            <a:ext cx="22479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Millisecond logic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9275" y="4067175"/>
            <a:ext cx="970121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3975" y="4419600"/>
            <a:ext cx="19145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Instant balance update.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48287" y="1634728"/>
            <a:ext cx="149542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 dirty="0">
                <a:solidFill>
                  <a:srgbClr val="3B82F6"/>
                </a:solidFill>
                <a:latin typeface="Inter"/>
              </a:rPr>
              <a:t>SOLUTION 04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320528"/>
            <a:ext cx="533400" cy="53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0623" y="3158728"/>
            <a:ext cx="6030753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0" i="0" u="none">
                <a:solidFill>
                  <a:srgbClr val="0F172A"/>
                </a:solidFill>
                <a:latin typeface="Inter ExtraBold"/>
              </a:rPr>
              <a:t>Automated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03489"/>
            <a:ext cx="7620000" cy="1119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475569"/>
                </a:solidFill>
                <a:latin typeface="Inter"/>
              </a:rPr>
              <a:t>Programmed logic strictly enforces mathematical rules, actively preventing negative deposits and unauthorized overdrafts.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68234011-BEF6-11B1-B9E8-80BE8E54D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867" y="1792505"/>
            <a:ext cx="3359199" cy="4257675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84689"/>
            <a:ext cx="3359199" cy="4257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949" y="1838325"/>
            <a:ext cx="3359199" cy="4257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5300" y="762000"/>
            <a:ext cx="112014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i="0" u="none">
                <a:solidFill>
                  <a:srgbClr val="0F172A"/>
                </a:solidFill>
                <a:latin typeface="Inter ExtraBold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2228850"/>
            <a:ext cx="257814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JetBrains Mono"/>
              </a:rPr>
              <a:t>Account.java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2676525"/>
            <a:ext cx="257814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Inter"/>
              </a:rPr>
              <a:t>The Data Model. Stores customer state and handles pure math operations (deposit, withdraw).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7895" y="2304720"/>
            <a:ext cx="257814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60A5FA"/>
                </a:solidFill>
                <a:latin typeface="JetBrains Mono"/>
              </a:rPr>
              <a:t>BankingSystem.java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7896" y="2684391"/>
            <a:ext cx="2578149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94A3B8"/>
                </a:solidFill>
                <a:latin typeface="Inter"/>
              </a:rPr>
              <a:t>Main Controller. Manages the </a:t>
            </a:r>
            <a:r>
              <a:rPr sz="1350" b="1" i="0" u="none" dirty="0" err="1">
                <a:solidFill>
                  <a:srgbClr val="94A3B8"/>
                </a:solidFill>
                <a:latin typeface="Inter"/>
              </a:rPr>
              <a:t>ArrayList</a:t>
            </a:r>
            <a:r>
              <a:rPr sz="1350" b="1" i="0" u="none" dirty="0">
                <a:solidFill>
                  <a:srgbClr val="94A3B8"/>
                </a:solidFill>
                <a:latin typeface="Inter"/>
              </a:rPr>
              <a:t> database and routes user choices to the correct logic</a:t>
            </a:r>
            <a:r>
              <a:rPr sz="1350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1474" y="2228850"/>
            <a:ext cx="257814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JetBrains Mono"/>
              </a:rPr>
              <a:t>Scanner (I/O)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1474" y="2676525"/>
            <a:ext cx="25781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64748B"/>
                </a:solidFill>
                <a:latin typeface="Inter"/>
              </a:rPr>
              <a:t>User Interface. Captures console input, validates types, and handles standard output.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202209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82F6"/>
                </a:solidFill>
                <a:latin typeface="Inter"/>
              </a:rPr>
              <a:t>CORE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659409"/>
            <a:ext cx="560070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Encapsulated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390900"/>
            <a:ext cx="5334000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64748B"/>
                </a:solidFill>
                <a:latin typeface="Inter"/>
              </a:rPr>
              <a:t>Private fields protect sensitive financial data from external modification. State is accessed strictly via getters.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3276600"/>
            <a:ext cx="1409700" cy="6953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276600"/>
            <a:ext cx="1885950" cy="695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3276600"/>
            <a:ext cx="1981200" cy="695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>
            <a:biLevel thresh="25000"/>
          </a:blip>
          <a:stretch>
            <a:fillRect/>
          </a:stretch>
        </p:blipFill>
        <p:spPr>
          <a:xfrm>
            <a:off x="8477250" y="3295649"/>
            <a:ext cx="1943100" cy="65722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628311" y="2073529"/>
            <a:ext cx="5430678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Instant Account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0462" y="4429125"/>
            <a:ext cx="47910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Validates uniqueness before instantiating the object.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750" y="3529012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5950" y="3529012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3529012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95500" y="3524250"/>
            <a:ext cx="76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JetBrains Mono"/>
              </a:rPr>
              <a:t>Input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1450" y="3524250"/>
            <a:ext cx="12382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 err="1">
                <a:solidFill>
                  <a:srgbClr val="0F172A"/>
                </a:solidFill>
                <a:latin typeface="JetBrains Mono"/>
              </a:rPr>
              <a:t>F</a:t>
            </a:r>
            <a:r>
              <a:rPr sz="1200" b="1" i="0" u="none" dirty="0" err="1">
                <a:solidFill>
                  <a:srgbClr val="0F172A"/>
                </a:solidFill>
                <a:latin typeface="JetBrains Mono"/>
              </a:rPr>
              <a:t>indAccount</a:t>
            </a:r>
            <a:r>
              <a:rPr sz="1200" b="1" i="0" u="none" dirty="0">
                <a:solidFill>
                  <a:srgbClr val="0F172A"/>
                </a:solidFill>
                <a:latin typeface="JetBrains Mono"/>
              </a:rPr>
              <a:t>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3650" y="3524250"/>
            <a:ext cx="1333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JetBrains Mono"/>
              </a:rPr>
              <a:t>Input Name/Bal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1100" y="3524250"/>
            <a:ext cx="1333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etBrains Mono"/>
              </a:rPr>
              <a:t>A</a:t>
            </a:r>
            <a:r>
              <a:rPr sz="1200" b="1" i="0" u="none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etBrains Mono"/>
              </a:rPr>
              <a:t>ccounts.add</a:t>
            </a:r>
            <a:r>
              <a:rPr sz="1200" b="1" i="0" u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etBrains Mono"/>
              </a:rPr>
              <a:t>()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81200"/>
            <a:ext cx="5029200" cy="2895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013745"/>
            <a:ext cx="2600325" cy="419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22628" y="2501205"/>
            <a:ext cx="528066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 dirty="0">
                <a:solidFill>
                  <a:srgbClr val="0F172A"/>
                </a:solidFill>
                <a:latin typeface="Inter ExtraBold"/>
              </a:rPr>
              <a:t>Secure Deposits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2628" y="3118395"/>
            <a:ext cx="5029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64748B"/>
                </a:solidFill>
                <a:latin typeface="Inter"/>
              </a:rPr>
              <a:t>Positive amount validation explicitly rejects negative values, preventing exploit attempts.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47095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43050"/>
            <a:ext cx="5029200" cy="3771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786955"/>
            <a:ext cx="528066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Overdraft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518445"/>
            <a:ext cx="50292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748B"/>
                </a:solidFill>
                <a:latin typeface="Inter"/>
              </a:rPr>
              <a:t>Strict conditional logic actively blocks withdrawals that exceed current balance.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5125" y="1876425"/>
            <a:ext cx="1600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3C5FD"/>
                </a:solidFill>
                <a:latin typeface="JetBrains Mono"/>
              </a:rPr>
              <a:t>public boolean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9625" y="1876425"/>
            <a:ext cx="9144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86EFAC"/>
                </a:solidFill>
                <a:latin typeface="JetBrains Mono"/>
              </a:rPr>
              <a:t>withdraw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58325" y="1876425"/>
            <a:ext cx="6858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3C5FD"/>
                </a:solidFill>
                <a:latin typeface="JetBrains Mono"/>
              </a:rPr>
              <a:t>double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2447925"/>
            <a:ext cx="37719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JetBrains Mono"/>
              </a:rPr>
              <a:t>// Validates positive value AND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3725" y="3019425"/>
            <a:ext cx="228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3C5FD"/>
                </a:solidFill>
                <a:latin typeface="JetBrains Mono"/>
              </a:rPr>
              <a:t>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9625" y="3019425"/>
            <a:ext cx="114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CA5A5"/>
                </a:solidFill>
                <a:latin typeface="JetBrains Mono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2325" y="3876675"/>
            <a:ext cx="1257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3C5FD"/>
                </a:solidFill>
                <a:latin typeface="JetBrains Mono"/>
              </a:rPr>
              <a:t>return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3725" y="4448175"/>
            <a:ext cx="1371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3C5FD"/>
                </a:solidFill>
                <a:latin typeface="JetBrains Mono"/>
              </a:rPr>
              <a:t>return false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65696" y="1747837"/>
            <a:ext cx="4860607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i="0" u="none">
                <a:solidFill>
                  <a:srgbClr val="0F172A"/>
                </a:solidFill>
                <a:latin typeface="Inter ExtraBold"/>
              </a:rPr>
              <a:t>Real-Time Data Retrieval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4576762"/>
            <a:ext cx="6200775" cy="533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19637" y="2824162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9112" y="2824162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90762" y="2824162"/>
            <a:ext cx="18192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0" i="0" u="none">
                <a:solidFill>
                  <a:srgbClr val="3B82F6"/>
                </a:solidFill>
                <a:latin typeface="Inter ExtraBold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90762" y="3738562"/>
            <a:ext cx="18192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64748B"/>
                </a:solidFill>
                <a:latin typeface="Inter"/>
              </a:rPr>
              <a:t>Primary Key Lookup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8762" y="2824162"/>
            <a:ext cx="21907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0" i="0" u="none" dirty="0">
                <a:solidFill>
                  <a:srgbClr val="0F172A"/>
                </a:solidFill>
                <a:latin typeface="Inter ExtraBold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8762" y="3738562"/>
            <a:ext cx="2190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Object Property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237" y="2824162"/>
            <a:ext cx="1143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0" i="0" u="none" dirty="0">
                <a:solidFill>
                  <a:srgbClr val="10B981"/>
                </a:solidFill>
                <a:latin typeface="Inter ExtraBold"/>
              </a:rPr>
              <a:t>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237" y="373856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Live Balance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00387"/>
            <a:ext cx="2495550" cy="15811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0" y="3100387"/>
            <a:ext cx="2495550" cy="1581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3100387"/>
            <a:ext cx="2495550" cy="1581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0" y="3100387"/>
            <a:ext cx="2495550" cy="1581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762000"/>
            <a:ext cx="112014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Future Enhancements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3414712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6325" y="3871912"/>
            <a:ext cx="196024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Inter"/>
              </a:rPr>
              <a:t>Persistent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176712"/>
            <a:ext cx="1866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MySQL or File I/O.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0475" y="3414712"/>
            <a:ext cx="3429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00475" y="3871912"/>
            <a:ext cx="196024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Inter"/>
              </a:rPr>
              <a:t>Graphical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0475" y="4176712"/>
            <a:ext cx="1866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JavaFX or Swing.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3414712"/>
            <a:ext cx="3048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24625" y="3871912"/>
            <a:ext cx="196024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Inter"/>
              </a:rPr>
              <a:t>History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176712"/>
            <a:ext cx="1866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Track specific transfers.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8775" y="3414712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48775" y="3871912"/>
            <a:ext cx="196024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0000"/>
                </a:solidFill>
                <a:latin typeface="Inter"/>
              </a:rPr>
              <a:t>Multi-Currency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4176712"/>
            <a:ext cx="1866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Exchange rate logic.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15790" y="2514600"/>
            <a:ext cx="336042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FFFFFF"/>
                </a:solidFill>
                <a:latin typeface="Inter ExtraBold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791200" y="4305300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224</TotalTime>
  <Words>431</Words>
  <Application>Microsoft Office PowerPoint</Application>
  <PresentationFormat>Widescreen</PresentationFormat>
  <Paragraphs>110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Inter</vt:lpstr>
      <vt:lpstr>Inter ExtraBold</vt:lpstr>
      <vt:lpstr>JetBrains Mono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Digital Solution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Bishal Shah</cp:lastModifiedBy>
  <cp:revision>5</cp:revision>
  <dcterms:created xsi:type="dcterms:W3CDTF">2013-01-27T09:14:16Z</dcterms:created>
  <dcterms:modified xsi:type="dcterms:W3CDTF">2026-09-10T04:18:30Z</dcterms:modified>
  <cp:category/>
</cp:coreProperties>
</file>